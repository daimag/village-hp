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685800" y="640080"/>
            <a:ext cx="731520" cy="731520"/>
          </a:xfrm>
          <a:prstGeom prst="triangle">
            <a:avLst/>
          </a:prstGeom>
          <a:solidFill>
            <a:srgbClr val="5BB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914400" y="868680"/>
            <a:ext cx="292608" cy="457200"/>
          </a:xfrm>
          <a:prstGeom prst="triangle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9EC7D8"/>
                </a:solidFill>
                <a:latin typeface="Yu Gothic"/>
                <a:ea typeface="Yu Gothic"/>
              </a:rPr>
              <a:t>株式会社ヴィレッジ　ホームページ制作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Yu Gothic"/>
                <a:ea typeface="Yu Gothic"/>
              </a:rPr>
              <a:t>打合せ資料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0">
                <a:solidFill>
                  <a:srgbClr val="CFE6EF"/>
                </a:solidFill>
                <a:latin typeface="Yu Gothic"/>
                <a:ea typeface="Yu Gothic"/>
              </a:rPr>
              <a:t>再来週（7/20 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FCEDB"/>
                </a:solidFill>
                <a:latin typeface="Yu Gothic"/>
                <a:ea typeface="Yu Gothic"/>
              </a:rPr>
              <a:t>作成日 2026-07-06　|　土曜ヒアリング反映版　|　目的：双方の分担確認・決定事項の共有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232B"/>
                </a:solidFill>
                <a:latin typeface="Yu Gothic"/>
                <a:ea typeface="Yu Gothic"/>
              </a:rPr>
              <a:t>サイトの意図・目的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08792" cy="9525"/>
          </a:xfrm>
          <a:prstGeom prst="rect">
            <a:avLst/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91440" cy="96012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C6D8F"/>
                </a:solidFill>
                <a:latin typeface="Yu Gothic"/>
                <a:ea typeface="Yu Gothic"/>
              </a:rPr>
              <a:t>設立2024年の新しい会社</a:t>
            </a:r>
            <a:r>
              <a:rPr sz="1500" b="0">
                <a:solidFill>
                  <a:srgbClr val="47585F"/>
                </a:solidFill>
                <a:latin typeface="Yu Gothic"/>
                <a:ea typeface="Yu Gothic"/>
              </a:rPr>
              <a:t>　だからこそ「信頼感・誠実・清潔感」を前面に出し、発注前の不安を取り除くことが最大の狙い。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15768"/>
            <a:ext cx="1090879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15768"/>
            <a:ext cx="91440" cy="96012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07208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C6D8F"/>
                </a:solidFill>
                <a:latin typeface="Yu Gothic"/>
                <a:ea typeface="Yu Gothic"/>
              </a:rPr>
              <a:t>解体から活用までワンストップ</a:t>
            </a:r>
            <a:r>
              <a:rPr sz="1500" b="0">
                <a:solidFill>
                  <a:srgbClr val="47585F"/>
                </a:solidFill>
                <a:latin typeface="Yu Gothic"/>
                <a:ea typeface="Yu Gothic"/>
              </a:rPr>
              <a:t>　（解体・土地開発・リフォーム・リノベ）を打ち出し、単なる解体屋ではない付加価値を伝える。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31335"/>
            <a:ext cx="1090879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31335"/>
            <a:ext cx="91440" cy="96012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22775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C6D8F"/>
                </a:solidFill>
                <a:latin typeface="Yu Gothic"/>
                <a:ea typeface="Yu Gothic"/>
              </a:rPr>
              <a:t>有資格者による品質管理＋近隣対策</a:t>
            </a:r>
            <a:r>
              <a:rPr sz="1500" b="0">
                <a:solidFill>
                  <a:srgbClr val="47585F"/>
                </a:solidFill>
                <a:latin typeface="Yu Gothic"/>
                <a:ea typeface="Yu Gothic"/>
              </a:rPr>
              <a:t>　（クレームの少なさ）を強みの軸に、地域密着・スピード対応をアピール。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46903"/>
            <a:ext cx="1090879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946903"/>
            <a:ext cx="91440" cy="96012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38343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C6D8F"/>
                </a:solidFill>
                <a:latin typeface="Yu Gothic"/>
                <a:ea typeface="Yu Gothic"/>
              </a:rPr>
              <a:t>電話・問い合わせフォームでの反響獲得</a:t>
            </a:r>
            <a:r>
              <a:rPr sz="1500" b="0">
                <a:solidFill>
                  <a:srgbClr val="47585F"/>
                </a:solidFill>
                <a:latin typeface="Yu Gothic"/>
                <a:ea typeface="Yu Gothic"/>
              </a:rPr>
              <a:t>　がゴール。問い合わせ導線を明確にする。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232B"/>
                </a:solidFill>
                <a:latin typeface="Yu Gothic"/>
                <a:ea typeface="Yu Gothic"/>
              </a:rPr>
              <a:t>現サンプルHPの状況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08792" cy="9525"/>
          </a:xfrm>
          <a:prstGeom prst="rect">
            <a:avLst/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56232"/>
            <a:ext cx="201168" cy="201168"/>
          </a:xfrm>
          <a:prstGeom prst="ellipse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719072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6232B"/>
                </a:solidFill>
                <a:latin typeface="Yu Gothic"/>
                <a:ea typeface="Yu Gothic"/>
              </a:rPr>
              <a:t>トップ1枚構成のドラフト完成。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85F"/>
                </a:solidFill>
                <a:latin typeface="Yu Gothic"/>
                <a:ea typeface="Yu Gothic"/>
              </a:rPr>
              <a:t>「案1（洗練ブランド）」に全面刷新してmainへ統合。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1090879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026664"/>
            <a:ext cx="201168" cy="201168"/>
          </a:xfrm>
          <a:prstGeom prst="ellipse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889504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6232B"/>
                </a:solidFill>
                <a:latin typeface="Yu Gothic"/>
                <a:ea typeface="Yu Gothic"/>
              </a:rPr>
              <a:t>土曜の決定事項は主要部分を反映済み。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85F"/>
                </a:solidFill>
                <a:latin typeface="Yu Gothic"/>
                <a:ea typeface="Yu Gothic"/>
              </a:rPr>
              <a:t>キャッチコピー変更／不動産売買を除外し5事業へ／許可番号・設立2024年を追記／近隣対策を「MEASURES」新設／Googleマップ埋め込み。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41064"/>
            <a:ext cx="1090879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197096"/>
            <a:ext cx="201168" cy="201168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059936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6232B"/>
                </a:solidFill>
                <a:latin typeface="Yu Gothic"/>
                <a:ea typeface="Yu Gothic"/>
              </a:rPr>
              <a:t>写真・ロゴは全てサンプル画像のまま。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85F"/>
                </a:solidFill>
                <a:latin typeface="Yu Gothic"/>
                <a:ea typeface="Yu Gothic"/>
              </a:rPr>
              <a:t>実データ待ち。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11496"/>
            <a:ext cx="1090879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367528"/>
            <a:ext cx="201168" cy="201168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230368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6232B"/>
                </a:solidFill>
                <a:latin typeface="Yu Gothic"/>
                <a:ea typeface="Yu Gothic"/>
              </a:rPr>
              <a:t>本番URLは未公開（localhostのみ）。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85F"/>
                </a:solidFill>
                <a:latin typeface="Yu Gothic"/>
                <a:ea typeface="Yu Gothic"/>
              </a:rPr>
              <a:t>確認用URLの用意が必要。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232B"/>
                </a:solidFill>
                <a:latin typeface="Yu Gothic"/>
                <a:ea typeface="Yu Gothic"/>
              </a:rPr>
              <a:t>土曜ヒアリング 決定事項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08792" cy="9525"/>
          </a:xfrm>
          <a:prstGeom prst="rect">
            <a:avLst/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90879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6675120"/>
                <a:gridCol w="1399032"/>
              </a:tblGrid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anchor="ctr" marT="25400" marB="25400">
                    <a:solidFill>
                      <a:srgbClr val="114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決定内容</a:t>
                      </a:r>
                    </a:p>
                  </a:txBody>
                  <a:tcPr anchor="ctr" marT="25400" marB="25400">
                    <a:solidFill>
                      <a:srgbClr val="114A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反映</a:t>
                      </a:r>
                    </a:p>
                  </a:txBody>
                  <a:tcPr anchor="ctr" marT="25400" marB="25400">
                    <a:solidFill>
                      <a:srgbClr val="114A63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キャッチコピー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解体工事で未来のかけ橋を創造する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事業内容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不動産売買は今後の新規事業のため非掲載 → 5事業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補助金申請代行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追加事業・対応市区町村は未記入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7791F"/>
                          </a:solidFill>
                          <a:latin typeface="Yu Gothic"/>
                          <a:ea typeface="Yu Gothic"/>
                        </a:rPr>
                        <a:t>保留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許可番号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解体工事業登録 第1456号／石綿調査者 第21071177号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選ばれる理由①②③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そのまま採用でOK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他社に負けない点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近隣対策（着手前・完了後のあいさつ）＝クレームの少なさ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営業時間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8:00〜18:00／日祝休み（実際の時間は要確認）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設立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2024年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サイトの色・雰囲気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青×緑を維持／信頼感・誠実・清潔感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8F66"/>
                          </a:solidFill>
                          <a:latin typeface="Yu Gothic"/>
                          <a:ea typeface="Yu Gothic"/>
                        </a:rPr>
                        <a:t>済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参考サイト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㈱ACTIVE・㈱サンライズ・㈱クリーンアイランド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6D8F"/>
                          </a:solidFill>
                          <a:latin typeface="Yu Gothic"/>
                          <a:ea typeface="Yu Gothic"/>
                        </a:rPr>
                        <a:t>研究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問い合わせフォーム／地図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フォーム設置（未実装）／Googleマップ掲載（済）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7791F"/>
                          </a:solidFill>
                          <a:latin typeface="Yu Gothic"/>
                          <a:ea typeface="Yu Gothic"/>
                        </a:rPr>
                        <a:t>一部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28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>ドメイン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.jp 希望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6D8F"/>
                          </a:solidFill>
                          <a:latin typeface="Yu Gothic"/>
                          <a:ea typeface="Yu Gothic"/>
                        </a:rPr>
                        <a:t>取得へ</a:t>
                      </a:r>
                    </a:p>
                  </a:txBody>
                  <a:tcPr anchor="ctr" marL="76200" marT="12700" marB="12700">
                    <a:solidFill>
                      <a:srgbClr val="EC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232B"/>
                </a:solidFill>
                <a:latin typeface="Yu Gothic"/>
                <a:ea typeface="Yu Gothic"/>
              </a:rPr>
              <a:t>お互いの分担（〜打ち合わせ）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08792" cy="9525"/>
          </a:xfrm>
          <a:prstGeom prst="rect">
            <a:avLst/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743200" cy="457200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制作側で進めること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76856"/>
            <a:ext cx="146304" cy="14630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ドメイン取得</a:t>
            </a: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（.jp／village-〜 の空き確認 → 取得手続き）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43784"/>
            <a:ext cx="146304" cy="14630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15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独自ドメインのメール作成</a:t>
            </a: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（village2024@outlook.jp → 独自ドメインへ）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10712"/>
            <a:ext cx="146304" cy="14630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8269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確認用サイトを公開（Vercel等）</a:t>
            </a: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し、閲覧URLを用意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146304" cy="14630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9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問い合わせフォーム</a:t>
            </a: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の実装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544568"/>
            <a:ext cx="146304" cy="14630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165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参考3サイトを研究</a:t>
            </a: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しデザインを微調整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111496"/>
            <a:ext cx="146304" cy="14630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提供写真・正式ロゴ・実営業時間を反映</a:t>
            </a: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（受領後）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678424"/>
            <a:ext cx="146304" cy="14630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504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確認事項を整理して持参</a:t>
            </a: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（事業項目／補助金申請代行の要否）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232B"/>
                </a:solidFill>
                <a:latin typeface="Yu Gothic"/>
                <a:ea typeface="Yu Gothic"/>
              </a:rPr>
              <a:t>お客様にご用意いただきたいこと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08792" cy="9525"/>
          </a:xfrm>
          <a:prstGeom prst="rect">
            <a:avLst/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120640" cy="41148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打ち合わせまでに最低限そろえてほしい情報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66544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32B"/>
                </a:solidFill>
                <a:latin typeface="Yu Gothic"/>
                <a:ea typeface="Yu Gothic"/>
              </a:rPr>
              <a:t>写真データ一式</a:t>
            </a: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（下記の内訳・スマホ撮影でOK）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23744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468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32B"/>
                </a:solidFill>
                <a:latin typeface="Yu Gothic"/>
                <a:ea typeface="Yu Gothic"/>
              </a:rPr>
              <a:t>会社ロゴの正式データ</a:t>
            </a: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980944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926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32B"/>
                </a:solidFill>
                <a:latin typeface="Yu Gothic"/>
                <a:ea typeface="Yu Gothic"/>
              </a:rPr>
              <a:t>正確な営業時間・定休日</a:t>
            </a: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（8:00〜18:00／日祝休みで合っているか）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38144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3832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32B"/>
                </a:solidFill>
                <a:latin typeface="Yu Gothic"/>
                <a:ea typeface="Yu Gothic"/>
              </a:rPr>
              <a:t>掲載する事業内容の最終確定</a:t>
            </a: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（不動産売買は除外／補助金申請代行の要否）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95344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840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32B"/>
                </a:solidFill>
                <a:latin typeface="Yu Gothic"/>
                <a:ea typeface="Yu Gothic"/>
              </a:rPr>
              <a:t>会社概要の確定情報</a:t>
            </a: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（資本金・従業員数・その他許認可の有無）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52544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32B"/>
                </a:solidFill>
                <a:latin typeface="Yu Gothic"/>
                <a:ea typeface="Yu Gothic"/>
              </a:rPr>
              <a:t>表示する連絡先の最終確認</a:t>
            </a: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（電話・メールを載せてよいか）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09744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754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32B"/>
                </a:solidFill>
                <a:latin typeface="Yu Gothic"/>
                <a:ea typeface="Yu Gothic"/>
              </a:rPr>
              <a:t>希望ドメインの文字列</a:t>
            </a: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（village-〇〇 の〇〇。末尾 .jp）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57800"/>
            <a:ext cx="10908792" cy="6400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0352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C8F66"/>
                </a:solidFill>
                <a:latin typeface="Yu Gothic"/>
                <a:ea typeface="Yu Gothic"/>
              </a:rPr>
              <a:t>写真の内訳：</a:t>
            </a:r>
            <a:r>
              <a:rPr sz="1200" b="0">
                <a:solidFill>
                  <a:srgbClr val="47585F"/>
                </a:solidFill>
                <a:latin typeface="Yu Gothic"/>
                <a:ea typeface="Yu Gothic"/>
              </a:rPr>
              <a:t>代表者 / 解体工事（前・中・後）/ 重機・車両 / 不動産・土地 / リフォーム・リノベ事例(before-after) / スタッフ・作業風景・会社外観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あると助かるもの（任意）：参考サイトで「特に良い」と感じたポイント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