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C8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 rot="10800000">
            <a:off x="685800" y="640080"/>
            <a:ext cx="731520" cy="731520"/>
          </a:xfrm>
          <a:prstGeom prst="triangle">
            <a:avLst/>
          </a:prstGeom>
          <a:solidFill>
            <a:srgbClr val="5BB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914400" y="868680"/>
            <a:ext cx="292608" cy="457200"/>
          </a:xfrm>
          <a:prstGeom prst="triangle">
            <a:avLst/>
          </a:prstGeom>
          <a:solidFill>
            <a:srgbClr val="2C8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9EC7D8"/>
                </a:solidFill>
                <a:latin typeface="Yu Gothic"/>
                <a:ea typeface="Yu Gothic"/>
              </a:rPr>
              <a:t>株式会社ヴィレッジ　ホームページ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Yu Gothic"/>
                <a:ea typeface="Yu Gothic"/>
              </a:rPr>
              <a:t>サーバ構成図 &amp; メール作成ヒアリング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CFE6EF"/>
                </a:solidFill>
                <a:latin typeface="Yu Gothic"/>
                <a:ea typeface="Yu Gothic"/>
              </a:rPr>
              <a:t>システム構成と役割分担／メールアカウントの確認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AFCEDB"/>
                </a:solidFill>
                <a:latin typeface="Yu Gothic"/>
                <a:ea typeface="Yu Gothic"/>
              </a:rPr>
              <a:t>作成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6232B"/>
                </a:solidFill>
                <a:latin typeface="Yu Gothic"/>
                <a:ea typeface="Yu Gothic"/>
              </a:rPr>
              <a:t>サーバ構成図（システム構成と役割分担）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8"/>
            <a:ext cx="10908792" cy="9525"/>
          </a:xfrm>
          <a:prstGeom prst="rect">
            <a:avLst/>
          </a:prstGeom>
          <a:solidFill>
            <a:srgbClr val="DD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914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6232B"/>
                </a:solidFill>
                <a:latin typeface="Yu Gothic"/>
                <a:ea typeface="Yu Gothic"/>
              </a:rPr>
              <a:t>役割：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389888"/>
            <a:ext cx="274320" cy="274320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371600"/>
            <a:ext cx="17373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85F"/>
                </a:solidFill>
                <a:latin typeface="Yu Gothic"/>
                <a:ea typeface="Yu Gothic"/>
              </a:rPr>
              <a:t>だいまぐ 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389888"/>
            <a:ext cx="274320" cy="274320"/>
          </a:xfrm>
          <a:prstGeom prst="rect">
            <a:avLst/>
          </a:prstGeom>
          <a:solidFill>
            <a:srgbClr val="2C8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1371600"/>
            <a:ext cx="17373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85F"/>
                </a:solidFill>
                <a:latin typeface="Yu Gothic"/>
                <a:ea typeface="Yu Gothic"/>
              </a:rPr>
              <a:t>ヴィレッジ 所有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80" y="1389888"/>
            <a:ext cx="274320" cy="274320"/>
          </a:xfrm>
          <a:prstGeom prst="rect">
            <a:avLst/>
          </a:prstGeom>
          <a:solidFill>
            <a:srgbClr val="6B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1371600"/>
            <a:ext cx="17373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85F"/>
                </a:solidFill>
                <a:latin typeface="Yu Gothic"/>
                <a:ea typeface="Yu Gothic"/>
              </a:rPr>
              <a:t>開発作業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47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C6D8F"/>
                </a:solidFill>
                <a:latin typeface="Yu Gothic"/>
                <a:ea typeface="Yu Gothic"/>
              </a:rPr>
              <a:t>① 制作 → 公開の流れ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94560"/>
            <a:ext cx="3017520" cy="10515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B76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304288"/>
            <a:ext cx="82296" cy="832103"/>
          </a:xfrm>
          <a:prstGeom prst="rect">
            <a:avLst/>
          </a:prstGeom>
          <a:solidFill>
            <a:srgbClr val="6B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22576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6232B"/>
                </a:solidFill>
                <a:latin typeface="Yu Gothic"/>
                <a:ea typeface="Yu Gothic"/>
              </a:rPr>
              <a:t>開発（VSCode + Claude）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43200"/>
            <a:ext cx="182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85F"/>
                </a:solidFill>
                <a:latin typeface="Yu Gothic"/>
                <a:ea typeface="Yu Gothic"/>
              </a:rPr>
              <a:t>コードを編集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95144" y="2825496"/>
            <a:ext cx="1234440" cy="292608"/>
          </a:xfrm>
          <a:prstGeom prst="rect">
            <a:avLst/>
          </a:prstGeom>
          <a:solidFill>
            <a:srgbClr val="6B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95144" y="2825496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</a:rPr>
              <a:t>開発作業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53712" y="2194560"/>
            <a:ext cx="3017520" cy="10515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C8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3712" y="2304288"/>
            <a:ext cx="82296" cy="832103"/>
          </a:xfrm>
          <a:prstGeom prst="rect">
            <a:avLst/>
          </a:prstGeom>
          <a:solidFill>
            <a:srgbClr val="2C8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9744" y="2322576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6232B"/>
                </a:solidFill>
                <a:latin typeface="Yu Gothic"/>
                <a:ea typeface="Yu Gothic"/>
              </a:rPr>
              <a:t>GitHub リポジトリ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182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85F"/>
                </a:solidFill>
                <a:latin typeface="Yu Gothic"/>
                <a:ea typeface="Yu Gothic"/>
              </a:rPr>
              <a:t>ソース管理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8776" y="2825496"/>
            <a:ext cx="1234440" cy="292608"/>
          </a:xfrm>
          <a:prstGeom prst="rect">
            <a:avLst/>
          </a:prstGeom>
          <a:solidFill>
            <a:srgbClr val="2C8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8776" y="2825496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</a:rPr>
              <a:t>ヴィレッジ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85632" y="2194560"/>
            <a:ext cx="3063240" cy="10515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C6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85632" y="2304288"/>
            <a:ext cx="82296" cy="832103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41663" y="2322576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6232B"/>
                </a:solidFill>
                <a:latin typeface="Yu Gothic"/>
                <a:ea typeface="Yu Gothic"/>
              </a:rPr>
              <a:t>Vercel（公開ホスティング）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41663" y="274320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85F"/>
                </a:solidFill>
                <a:latin typeface="Yu Gothic"/>
                <a:ea typeface="Yu Gothic"/>
              </a:rPr>
              <a:t>本番サイトを配信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86415" y="2825496"/>
            <a:ext cx="1234440" cy="292608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86415" y="2825496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</a:rPr>
              <a:t>だいまぐ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703320" y="2578608"/>
            <a:ext cx="777240" cy="274320"/>
          </a:xfrm>
          <a:prstGeom prst="rightArrow">
            <a:avLst/>
          </a:prstGeom>
          <a:solidFill>
            <a:srgbClr val="6B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21762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47585F"/>
                </a:solidFill>
                <a:latin typeface="Consolas"/>
                <a:ea typeface="Consolas"/>
              </a:rPr>
              <a:t>git push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635240" y="2578608"/>
            <a:ext cx="777240" cy="274320"/>
          </a:xfrm>
          <a:prstGeom prst="rightArrow">
            <a:avLst/>
          </a:prstGeom>
          <a:solidFill>
            <a:srgbClr val="6B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217627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47585F"/>
                </a:solidFill>
                <a:latin typeface="Yu Gothic"/>
                <a:ea typeface="Yu Gothic"/>
              </a:rPr>
              <a:t>自動デプロイ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4930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C6D8F"/>
                </a:solidFill>
                <a:latin typeface="Yu Gothic"/>
                <a:ea typeface="Yu Gothic"/>
              </a:rPr>
              <a:t>② ドメインで Web とメールを振り分け（DNS）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3840480"/>
            <a:ext cx="1600200" cy="8686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B76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3950208"/>
            <a:ext cx="82296" cy="649224"/>
          </a:xfrm>
          <a:prstGeom prst="rect">
            <a:avLst/>
          </a:prstGeom>
          <a:solidFill>
            <a:srgbClr val="6B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3968496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6232B"/>
                </a:solidFill>
                <a:latin typeface="Yu Gothic"/>
                <a:ea typeface="Yu Gothic"/>
              </a:rPr>
              <a:t>利用者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4389120"/>
            <a:ext cx="411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85F"/>
                </a:solidFill>
                <a:latin typeface="Yu Gothic"/>
                <a:ea typeface="Yu Gothic"/>
              </a:rPr>
              <a:t>訪問者・取引先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7824" y="4288536"/>
            <a:ext cx="1234440" cy="292608"/>
          </a:xfrm>
          <a:prstGeom prst="rect">
            <a:avLst/>
          </a:prstGeom>
          <a:solidFill>
            <a:srgbClr val="6B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288536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</a:rPr>
              <a:t>社外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51760" y="3840480"/>
            <a:ext cx="6217920" cy="8686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C6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651760" y="3950208"/>
            <a:ext cx="82296" cy="649224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07791" y="3968496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6232B"/>
                </a:solidFill>
                <a:latin typeface="Yu Gothic"/>
                <a:ea typeface="Yu Gothic"/>
              </a:rPr>
              <a:t>ドメイン　village2024.jp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07791" y="4389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85F"/>
                </a:solidFill>
                <a:latin typeface="Yu Gothic"/>
                <a:ea typeface="Yu Gothic"/>
              </a:rPr>
              <a:t>ValueDomain・年払い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07223" y="4288536"/>
            <a:ext cx="1234440" cy="292608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07223" y="4288536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</a:rPr>
              <a:t>だいまぐ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2258568" y="4133088"/>
            <a:ext cx="365760" cy="274320"/>
          </a:xfrm>
          <a:prstGeom prst="rightArrow">
            <a:avLst/>
          </a:prstGeom>
          <a:solidFill>
            <a:srgbClr val="6B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Up Arrow 49"/>
          <p:cNvSpPr/>
          <p:nvPr/>
        </p:nvSpPr>
        <p:spPr>
          <a:xfrm>
            <a:off x="8732520" y="3273552"/>
            <a:ext cx="310896" cy="896112"/>
          </a:xfrm>
          <a:prstGeom prst="upArrow">
            <a:avLst/>
          </a:prstGeom>
          <a:solidFill>
            <a:srgbClr val="6B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98280" y="33101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14A63"/>
                </a:solidFill>
                <a:latin typeface="Yu Gothic"/>
                <a:ea typeface="Yu Gothic"/>
              </a:rPr>
              <a:t>Web：A / CNAME</a:t>
            </a:r>
          </a:p>
        </p:txBody>
      </p:sp>
      <p:sp>
        <p:nvSpPr>
          <p:cNvPr id="52" name="Down Arrow 51"/>
          <p:cNvSpPr/>
          <p:nvPr/>
        </p:nvSpPr>
        <p:spPr>
          <a:xfrm>
            <a:off x="8732520" y="4736592"/>
            <a:ext cx="310896" cy="566928"/>
          </a:xfrm>
          <a:prstGeom prst="downArrow">
            <a:avLst/>
          </a:prstGeom>
          <a:solidFill>
            <a:srgbClr val="6B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98280" y="48006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C8F66"/>
                </a:solidFill>
                <a:latin typeface="Yu Gothic"/>
                <a:ea typeface="Yu Gothic"/>
              </a:rPr>
              <a:t>メール：MX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58000" y="5257800"/>
            <a:ext cx="4690872" cy="9601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C6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58000" y="5367528"/>
            <a:ext cx="82296" cy="740664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14032" y="5385816"/>
            <a:ext cx="4233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6232B"/>
                </a:solidFill>
                <a:latin typeface="Yu Gothic"/>
                <a:ea typeface="Yu Gothic"/>
              </a:rPr>
              <a:t>コアサーバー（メール）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14032" y="5806440"/>
            <a:ext cx="3502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85F"/>
                </a:solidFill>
                <a:latin typeface="Yu Gothic"/>
                <a:ea typeface="Yu Gothic"/>
              </a:rPr>
              <a:t>info@village2024.jp ／ 年契約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86415" y="5797296"/>
            <a:ext cx="1234440" cy="292608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86415" y="5797296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</a:rPr>
              <a:t>だいまぐ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" y="5257800"/>
            <a:ext cx="5943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5358384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232B"/>
                </a:solidFill>
                <a:latin typeface="Yu Gothic"/>
                <a:ea typeface="Yu Gothic"/>
              </a:rPr>
              <a:t>契約・支払い（すべて年単位）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47585F"/>
                </a:solidFill>
                <a:latin typeface="Yu Gothic"/>
                <a:ea typeface="Yu Gothic"/>
              </a:rPr>
              <a:t>・GitHub（ソース）… </a:t>
            </a:r>
            <a:r>
              <a:rPr sz="1150" b="1">
                <a:solidFill>
                  <a:srgbClr val="2C8F66"/>
                </a:solidFill>
                <a:latin typeface="Yu Gothic"/>
                <a:ea typeface="Yu Gothic"/>
              </a:rPr>
              <a:t>ヴィレッジ所有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47585F"/>
                </a:solidFill>
                <a:latin typeface="Yu Gothic"/>
                <a:ea typeface="Yu Gothic"/>
              </a:rPr>
              <a:t>・Vercel／ドメイン(ValueDomain)／メール(コアサーバー)… </a:t>
            </a:r>
            <a:r>
              <a:rPr sz="1150" b="1">
                <a:solidFill>
                  <a:srgbClr val="114A63"/>
                </a:solidFill>
                <a:latin typeface="Yu Gothic"/>
                <a:ea typeface="Yu Gothic"/>
              </a:rPr>
              <a:t>だいまぐが契約・管理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6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6232B"/>
                </a:solidFill>
                <a:latin typeface="Yu Gothic"/>
                <a:ea typeface="Yu Gothic"/>
              </a:rPr>
              <a:t>メールアカウント作成ヒアリング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7585F"/>
                </a:solidFill>
                <a:latin typeface="Yu Gothic"/>
                <a:ea typeface="Yu Gothic"/>
              </a:rPr>
              <a:t>コアサーバーで作る独自ドメインメールの内容を確認します（当日ご記入ください）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08792" cy="9525"/>
          </a:xfrm>
          <a:prstGeom prst="rect">
            <a:avLst/>
          </a:prstGeom>
          <a:solidFill>
            <a:srgbClr val="DD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09087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91440" cy="1051560"/>
          </a:xfrm>
          <a:prstGeom prst="rect">
            <a:avLst/>
          </a:prstGeom>
          <a:solidFill>
            <a:srgbClr val="2C8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2C8F66"/>
                </a:solidFill>
                <a:latin typeface="Yu Gothic"/>
                <a:ea typeface="Yu Gothic"/>
              </a:rPr>
              <a:t>共通の確認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232B"/>
                </a:solidFill>
                <a:latin typeface="Yu Gothic"/>
                <a:ea typeface="Yu Gothic"/>
              </a:rPr>
              <a:t>・ドメイン： village2024.jp　【 □ これで確定 　□ 別の文字列（　　　　　　　）】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232B"/>
                </a:solidFill>
                <a:latin typeface="Yu Gothic"/>
                <a:ea typeface="Yu Gothic"/>
              </a:rPr>
              <a:t>・既存 village2024@outlook.jp の扱い： 【 □ 廃止　□ 新アドレスへ転送　□ 当面併用 】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697480"/>
          <a:ext cx="1090879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651760"/>
                <a:gridCol w="2103120"/>
                <a:gridCol w="2194560"/>
                <a:gridCol w="149047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＠より前（例：info）</a:t>
                      </a:r>
                    </a:p>
                  </a:txBody>
                  <a:tcPr anchor="ctr" marT="25400" marB="25400" marL="76200">
                    <a:solidFill>
                      <a:srgbClr val="114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用途（例：問い合わせ）</a:t>
                      </a:r>
                    </a:p>
                  </a:txBody>
                  <a:tcPr anchor="ctr" marT="25400" marB="25400" marL="76200">
                    <a:solidFill>
                      <a:srgbClr val="114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使う人（担当者）</a:t>
                      </a:r>
                    </a:p>
                  </a:txBody>
                  <a:tcPr anchor="ctr" marT="25400" marB="25400" marL="76200">
                    <a:solidFill>
                      <a:srgbClr val="114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転送先（あれば）</a:t>
                      </a:r>
                    </a:p>
                  </a:txBody>
                  <a:tcPr anchor="ctr" marT="25400" marB="25400" marL="76200">
                    <a:solidFill>
                      <a:srgbClr val="114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備考</a:t>
                      </a:r>
                    </a:p>
                  </a:txBody>
                  <a:tcPr anchor="ctr" marT="25400" marB="25400" marL="76200">
                    <a:solidFill>
                      <a:srgbClr val="114A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85F"/>
                          </a:solidFill>
                          <a:latin typeface="Yu Gothic"/>
                          <a:ea typeface="Yu Gothic"/>
                        </a:rPr>
                        <a:t>info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85F"/>
                          </a:solidFill>
                          <a:latin typeface="Yu Gothic"/>
                          <a:ea typeface="Yu Gothic"/>
                        </a:rPr>
                        <a:t>お問い合わせ全般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85F"/>
                          </a:solidFill>
                          <a:latin typeface="Yu Gothic"/>
                          <a:ea typeface="Yu Gothic"/>
                        </a:rPr>
                        <a:t>（　　　　）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85F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85F"/>
                          </a:solidFill>
                          <a:latin typeface="Yu Gothic"/>
                          <a:ea typeface="Yu Gothic"/>
                        </a:rPr>
                        <a:t>代表アドレス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ECF1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ECF1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EC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32B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ECF1F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85F"/>
                </a:solidFill>
                <a:latin typeface="Yu Gothic"/>
                <a:ea typeface="Yu Gothic"/>
              </a:rPr>
              <a:t>※ 1行目は記入例。パスワードは作成後に安全な方法で共有します。容量・エイリアス等は標準設定で作成します。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