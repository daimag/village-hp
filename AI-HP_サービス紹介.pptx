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DD9D0F-23FB-FBC4-FC85-31AE1850AFE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 err="1">
                <a:latin typeface="Noto Sans JP"/>
              </a:rPr>
              <a:t>AIホームページ（AI-HP</a:t>
            </a:r>
            <a:r>
              <a:rPr sz="1600" b="1" dirty="0">
                <a:latin typeface="Noto Sans JP"/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256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latin typeface="Noto Sans JP"/>
              </a:rPr>
              <a:t>AIを活用した</a:t>
            </a:r>
          </a:p>
          <a:p>
            <a:pPr algn="l">
              <a:spcAft>
                <a:spcPts val="200"/>
              </a:spcAft>
            </a:pPr>
            <a:r>
              <a:rPr sz="4000" b="1">
                <a:latin typeface="Noto Sans JP"/>
              </a:rPr>
              <a:t>ホームページ制作サービスのご紹介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latin typeface="Noto Sans JP"/>
              </a:rPr>
              <a:t>ホームページ制作のハードルを下げ、短期間で公開・運用までを支援します。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27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84048"/>
            <a:ext cx="502920" cy="50292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F1723"/>
                </a:solidFill>
                <a:latin typeface="Noto Sans JP"/>
              </a:rPr>
              <a:t>AI-HPで解決している課題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475569"/>
                </a:solidFill>
                <a:latin typeface="Noto Sans JP"/>
              </a:rPr>
              <a:t>AIを活用することで、ホームページ制作のハードルを大きく下げるサービスです。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10515600" cy="1143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109728" cy="114300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70632"/>
            <a:ext cx="4754880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5490"/>
                </a:solidFill>
                <a:latin typeface="Noto Sans JP"/>
              </a:rPr>
              <a:t>課題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3"/>
                </a:solidFill>
                <a:latin typeface="Noto Sans JP"/>
              </a:rPr>
              <a:t>何を書けばいいかわからない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06040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64748B"/>
                </a:solidFill>
                <a:latin typeface="Noto Sans JP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70632"/>
            <a:ext cx="4572000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5490"/>
                </a:solidFill>
                <a:latin typeface="Noto Sans JP"/>
              </a:rPr>
              <a:t>AI-HPでは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Noto Sans JP"/>
              </a:rPr>
              <a:t>必要な情報を入力すれば、文章や構成をAIがサポート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77640"/>
            <a:ext cx="10515600" cy="1143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977640"/>
            <a:ext cx="109728" cy="114300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42232"/>
            <a:ext cx="4754880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5490"/>
                </a:solidFill>
                <a:latin typeface="Noto Sans JP"/>
              </a:rPr>
              <a:t>課題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3"/>
                </a:solidFill>
                <a:latin typeface="Noto Sans JP"/>
              </a:rPr>
              <a:t>制作会社とのやり取りが大変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977640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64748B"/>
                </a:solidFill>
                <a:latin typeface="Noto Sans JP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42232"/>
            <a:ext cx="4572000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5490"/>
                </a:solidFill>
                <a:latin typeface="Noto Sans JP"/>
              </a:rPr>
              <a:t>AI-HPでは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Noto Sans JP"/>
              </a:rPr>
              <a:t>専門知識がなくても進められるようサポート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49240"/>
            <a:ext cx="10515600" cy="1143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5349240"/>
            <a:ext cx="109728" cy="114300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513832"/>
            <a:ext cx="4754880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5490"/>
                </a:solidFill>
                <a:latin typeface="Noto Sans JP"/>
              </a:rPr>
              <a:t>課題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F1723"/>
                </a:solidFill>
                <a:latin typeface="Noto Sans JP"/>
              </a:rPr>
              <a:t>完成まで何か月もかかる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349240"/>
            <a:ext cx="548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64748B"/>
                </a:solidFill>
                <a:latin typeface="Noto Sans JP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513832"/>
            <a:ext cx="4572000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5490"/>
                </a:solidFill>
                <a:latin typeface="Noto Sans JP"/>
              </a:rPr>
              <a:t>AI-HPでは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Noto Sans JP"/>
              </a:rPr>
              <a:t>短期間で公開まで進められる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27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84048"/>
            <a:ext cx="502920" cy="50292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F1723"/>
                </a:solidFill>
                <a:latin typeface="Noto Sans JP"/>
              </a:rPr>
              <a:t>こんなお客様に向いています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914400"/>
          </a:xfrm>
          <a:prstGeom prst="rect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2157984"/>
            <a:ext cx="164592" cy="164592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個人事業主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120640" cy="914400"/>
          </a:xfrm>
          <a:prstGeom prst="rect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92240" y="2157984"/>
            <a:ext cx="164592" cy="164592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中小企業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26080"/>
            <a:ext cx="5120640" cy="914400"/>
          </a:xfrm>
          <a:prstGeom prst="rect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3300984"/>
            <a:ext cx="164592" cy="164592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9260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新規開業した会社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26080"/>
            <a:ext cx="5120640" cy="914400"/>
          </a:xfrm>
          <a:prstGeom prst="rect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3300984"/>
            <a:ext cx="164592" cy="164592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29260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ホームページを持っていない会社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069080"/>
            <a:ext cx="5120640" cy="914400"/>
          </a:xfrm>
          <a:prstGeom prst="rect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4443984"/>
            <a:ext cx="164592" cy="164592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40690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古いホームページをリニューアルしたい会社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69080"/>
            <a:ext cx="5120640" cy="914400"/>
          </a:xfrm>
          <a:prstGeom prst="rect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4443984"/>
            <a:ext cx="164592" cy="164592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40690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制作費を抑えながら集客も考えたい会社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75569"/>
                </a:solidFill>
                <a:latin typeface="Noto Sans JP"/>
              </a:rPr>
              <a:t>特に「まずは早くホームページを持ちたい」という方と相性がいいサービスです。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27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84048"/>
            <a:ext cx="502920" cy="50292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F1723"/>
                </a:solidFill>
                <a:latin typeface="Noto Sans JP"/>
              </a:rPr>
              <a:t>導入の流れ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58368" cy="658368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A3D9"/>
                </a:solidFill>
                <a:latin typeface="Noto Sans JP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5648" y="1828800"/>
            <a:ext cx="86868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ヒアリング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06040"/>
            <a:ext cx="658368" cy="658368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A3D9"/>
                </a:solidFill>
                <a:latin typeface="Noto Sans JP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5648" y="2606040"/>
            <a:ext cx="86868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260604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必要情報の整理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383280"/>
            <a:ext cx="658368" cy="658368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A3D9"/>
                </a:solidFill>
                <a:latin typeface="Noto Sans JP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83280"/>
            <a:ext cx="86868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0" y="33832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AIで文章・構成を作成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160520"/>
            <a:ext cx="658368" cy="658368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A3D9"/>
                </a:solidFill>
                <a:latin typeface="Noto Sans JP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648" y="4160520"/>
            <a:ext cx="86868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03120" y="41605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内容を確認・修正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937760"/>
            <a:ext cx="658368" cy="658368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A3D9"/>
                </a:solidFill>
                <a:latin typeface="Noto Sans JP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5648" y="4937760"/>
            <a:ext cx="86868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03120" y="493776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ホームページ公開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715000"/>
            <a:ext cx="658368" cy="658368"/>
          </a:xfrm>
          <a:prstGeom prst="rect">
            <a:avLst/>
          </a:prstGeom>
          <a:solidFill>
            <a:srgbClr val="0F1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A3D9"/>
                </a:solidFill>
                <a:latin typeface="Noto Sans JP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55648" y="5715000"/>
            <a:ext cx="8686800" cy="65836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03120" y="571500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更新・運用サポート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355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  <a:latin typeface="Noto Sans JP"/>
              </a:rPr>
              <a:t>専門知識がなくても進められるようにサポートします。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27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84048"/>
            <a:ext cx="502920" cy="50292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0F1723"/>
                </a:solidFill>
                <a:latin typeface="Noto Sans JP"/>
              </a:rPr>
              <a:t>一般的な機能・特徴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91440" cy="86868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AIによる文章作成支援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91440" cy="86868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スマホ対応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07208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807208"/>
            <a:ext cx="91440" cy="86868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807208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お問い合わせフォーム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07208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807208"/>
            <a:ext cx="91440" cy="86868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807208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SEOを意識したページ作成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877056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3877056"/>
            <a:ext cx="91440" cy="86868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877056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更新しやすい設計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77056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877056"/>
            <a:ext cx="91440" cy="868680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877056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723"/>
                </a:solidFill>
                <a:latin typeface="Noto Sans JP"/>
              </a:rPr>
              <a:t>短期間で公開できる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852160"/>
            <a:ext cx="10515600" cy="777240"/>
          </a:xfrm>
          <a:prstGeom prst="rect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585216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1723"/>
                </a:solidFill>
                <a:latin typeface="Noto Sans JP"/>
              </a:rPr>
              <a:t>「AIが全部作る」のではなく、AIを活用して効率よく質の高いHPを作るイメージです。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>
            <a:extLst>
              <a:ext uri="{FF2B5EF4-FFF2-40B4-BE49-F238E27FC236}">
                <a16:creationId xmlns:a16="http://schemas.microsoft.com/office/drawing/2014/main" id="{5C6625AD-F1A2-51E7-1BEA-37E7CC13488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822960" y="64008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dirty="0" err="1">
                <a:latin typeface="Noto Sans JP"/>
              </a:rPr>
              <a:t>導入によって感じられるメリット</a:t>
            </a:r>
            <a:endParaRPr sz="2800" b="1" dirty="0">
              <a:latin typeface="Noto Sans JP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1463040" cy="54864"/>
          </a:xfrm>
          <a:prstGeom prst="rect">
            <a:avLst/>
          </a:prstGeom>
          <a:solidFill>
            <a:srgbClr val="1A5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512064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91440" cy="1143000"/>
          </a:xfrm>
          <a:prstGeom prst="rect">
            <a:avLst/>
          </a:prstGeom>
          <a:solidFill>
            <a:srgbClr val="5B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51514"/>
            <a:ext cx="4572000" cy="497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latin typeface="Noto Sans JP"/>
              </a:rPr>
              <a:t>制作スピード</a:t>
            </a:r>
          </a:p>
          <a:p>
            <a:pPr algn="l">
              <a:spcAft>
                <a:spcPts val="800"/>
              </a:spcAft>
            </a:pPr>
            <a:r>
              <a:rPr sz="1600" b="1">
                <a:latin typeface="Noto Sans JP"/>
              </a:rPr>
              <a:t>ホームページ完成までがかなり速い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12064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91440" cy="1143000"/>
          </a:xfrm>
          <a:prstGeom prst="rect">
            <a:avLst/>
          </a:prstGeom>
          <a:solidFill>
            <a:srgbClr val="5B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51514"/>
            <a:ext cx="4572000" cy="497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 err="1">
                <a:latin typeface="Noto Sans JP"/>
              </a:rPr>
              <a:t>イメージ共有</a:t>
            </a:r>
            <a:endParaRPr sz="1300" b="1" dirty="0">
              <a:latin typeface="Noto Sans JP"/>
            </a:endParaRPr>
          </a:p>
          <a:p>
            <a:pPr algn="l">
              <a:spcAft>
                <a:spcPts val="800"/>
              </a:spcAft>
            </a:pPr>
            <a:r>
              <a:rPr sz="1600" b="1" dirty="0" err="1">
                <a:latin typeface="Noto Sans JP"/>
              </a:rPr>
              <a:t>お客様も完成イメージを持ちやすい</a:t>
            </a:r>
            <a:endParaRPr sz="1600" b="1" dirty="0">
              <a:latin typeface="Noto Sans JP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3200400"/>
            <a:ext cx="512064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200400"/>
            <a:ext cx="91440" cy="1143000"/>
          </a:xfrm>
          <a:prstGeom prst="rect">
            <a:avLst/>
          </a:prstGeom>
          <a:solidFill>
            <a:srgbClr val="5B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523114"/>
            <a:ext cx="4572000" cy="497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latin typeface="Noto Sans JP"/>
              </a:rPr>
              <a:t>負担軽減</a:t>
            </a:r>
          </a:p>
          <a:p>
            <a:pPr algn="l">
              <a:spcAft>
                <a:spcPts val="800"/>
              </a:spcAft>
            </a:pPr>
            <a:r>
              <a:rPr sz="1600" b="1">
                <a:latin typeface="Noto Sans JP"/>
              </a:rPr>
              <a:t>文章作成の負担が減る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512064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91440" cy="1143000"/>
          </a:xfrm>
          <a:prstGeom prst="rect">
            <a:avLst/>
          </a:prstGeom>
          <a:solidFill>
            <a:srgbClr val="5B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523114"/>
            <a:ext cx="4572000" cy="497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latin typeface="Noto Sans JP"/>
              </a:rPr>
              <a:t>提案しやすさ</a:t>
            </a:r>
          </a:p>
          <a:p>
            <a:pPr algn="l">
              <a:spcAft>
                <a:spcPts val="800"/>
              </a:spcAft>
            </a:pPr>
            <a:r>
              <a:rPr sz="1600" b="1">
                <a:latin typeface="Noto Sans JP"/>
              </a:rPr>
              <a:t>初めての方にも提案しやすい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72000"/>
            <a:ext cx="512064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572000"/>
            <a:ext cx="91440" cy="1143000"/>
          </a:xfrm>
          <a:prstGeom prst="rect">
            <a:avLst/>
          </a:prstGeom>
          <a:solidFill>
            <a:srgbClr val="5B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894714"/>
            <a:ext cx="4572000" cy="497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latin typeface="Noto Sans JP"/>
              </a:rPr>
              <a:t>コスト</a:t>
            </a:r>
          </a:p>
          <a:p>
            <a:pPr algn="l">
              <a:spcAft>
                <a:spcPts val="800"/>
              </a:spcAft>
            </a:pPr>
            <a:r>
              <a:rPr sz="1600" b="1">
                <a:latin typeface="Noto Sans JP"/>
              </a:rPr>
              <a:t>コストを抑えて導入できるケースが多い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572000"/>
            <a:ext cx="5120640" cy="1143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572000"/>
            <a:ext cx="91440" cy="1143000"/>
          </a:xfrm>
          <a:prstGeom prst="rect">
            <a:avLst/>
          </a:prstGeom>
          <a:solidFill>
            <a:srgbClr val="5B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894714"/>
            <a:ext cx="4572000" cy="4975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latin typeface="Noto Sans JP"/>
              </a:rPr>
              <a:t>はじめやすさ</a:t>
            </a:r>
          </a:p>
          <a:p>
            <a:pPr algn="l">
              <a:spcAft>
                <a:spcPts val="800"/>
              </a:spcAft>
            </a:pPr>
            <a:r>
              <a:rPr sz="1600" b="1">
                <a:latin typeface="Noto Sans JP"/>
              </a:rPr>
              <a:t>何から始めればいいか分からない方にも◎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</Words>
  <Application>Microsoft Office PowerPoint</Application>
  <PresentationFormat>ワイド画面</PresentationFormat>
  <Paragraphs>68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村岡 宏治</cp:lastModifiedBy>
  <cp:revision>4</cp:revision>
  <cp:lastPrinted>2026-06-30T23:48:50Z</cp:lastPrinted>
  <dcterms:created xsi:type="dcterms:W3CDTF">2013-01-27T09:14:16Z</dcterms:created>
  <dcterms:modified xsi:type="dcterms:W3CDTF">2026-06-30T23:48:51Z</dcterms:modified>
  <cp:category/>
</cp:coreProperties>
</file>